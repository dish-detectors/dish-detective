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nter Semi-Bold" charset="1" panose="02000503000000020004"/>
      <p:regular r:id="rId24"/>
    </p:embeddedFont>
    <p:embeddedFont>
      <p:font typeface="Inter Light" charset="1" panose="02000503000000020004"/>
      <p:regular r:id="rId25"/>
    </p:embeddedFont>
    <p:embeddedFont>
      <p:font typeface="Inter" charset="1" panose="020B0502030000000004"/>
      <p:regular r:id="rId26"/>
    </p:embeddedFont>
    <p:embeddedFont>
      <p:font typeface="Inter Bold" charset="1" panose="020B0802030000000004"/>
      <p:regular r:id="rId27"/>
    </p:embeddedFont>
    <p:embeddedFont>
      <p:font typeface="Poppins" charset="1" panose="00000500000000000000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4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633335" y="2165776"/>
            <a:ext cx="10730064" cy="5955448"/>
            <a:chOff x="0" y="0"/>
            <a:chExt cx="3845413" cy="2134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2134298"/>
            </a:xfrm>
            <a:custGeom>
              <a:avLst/>
              <a:gdLst/>
              <a:ahLst/>
              <a:cxnLst/>
              <a:rect r="r" b="b" t="t" l="l"/>
              <a:pathLst>
                <a:path h="213429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34298"/>
                  </a:lnTo>
                  <a:lnTo>
                    <a:pt x="0" y="213429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181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68019" y="2485588"/>
            <a:ext cx="4558255" cy="4558255"/>
          </a:xfrm>
          <a:custGeom>
            <a:avLst/>
            <a:gdLst/>
            <a:ahLst/>
            <a:cxnLst/>
            <a:rect r="r" b="b" t="t" l="l"/>
            <a:pathLst>
              <a:path h="4558255" w="4558255">
                <a:moveTo>
                  <a:pt x="0" y="0"/>
                </a:moveTo>
                <a:lnTo>
                  <a:pt x="4558255" y="0"/>
                </a:lnTo>
                <a:lnTo>
                  <a:pt x="4558255" y="4558255"/>
                </a:lnTo>
                <a:lnTo>
                  <a:pt x="0" y="45582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47646" y="4424257"/>
            <a:ext cx="7553325" cy="193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4"/>
              </a:lnSpc>
            </a:pPr>
            <a:r>
              <a:rPr lang="en-US" b="true" sz="8499" spc="-637">
                <a:solidFill>
                  <a:srgbClr val="78B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DISH DETECTIVE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7646" y="6420908"/>
            <a:ext cx="621357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Prezentacija projekta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93352"/>
            <a:ext cx="319539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PROGRAMSKO INŽENJERSTVO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0238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SIJEČAN 2026.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08932" y="8470563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9" y="0"/>
                </a:lnTo>
                <a:lnTo>
                  <a:pt x="3245529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5981367"/>
            <a:ext cx="18335625" cy="5900737"/>
          </a:xfrm>
          <a:custGeom>
            <a:avLst/>
            <a:gdLst/>
            <a:ahLst/>
            <a:cxnLst/>
            <a:rect r="r" b="b" t="t" l="l"/>
            <a:pathLst>
              <a:path h="5900737" w="18335625">
                <a:moveTo>
                  <a:pt x="18335625" y="0"/>
                </a:moveTo>
                <a:lnTo>
                  <a:pt x="0" y="0"/>
                </a:lnTo>
                <a:lnTo>
                  <a:pt x="0" y="5900738"/>
                </a:lnTo>
                <a:lnTo>
                  <a:pt x="18335625" y="5900738"/>
                </a:lnTo>
                <a:lnTo>
                  <a:pt x="18335625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5843882" y="4224005"/>
            <a:ext cx="8779401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45413" cy="1731500"/>
            </a:xfrm>
            <a:custGeom>
              <a:avLst/>
              <a:gdLst/>
              <a:ahLst/>
              <a:cxnLst/>
              <a:rect r="r" b="b" t="t" l="l"/>
              <a:pathLst>
                <a:path h="1731500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11128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43882" y="4523267"/>
            <a:ext cx="5504618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Članovi tima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O projektu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Zahtjevi​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Arhitektura sustava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Organizacija rada​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Iskustva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43882" y="3314091"/>
            <a:ext cx="7959169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999" spc="-449" b="true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Sadržaj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085898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SIJEČANJ 2026.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9715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 DETECTIVE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667400" y="-6899948"/>
            <a:ext cx="4044591" cy="17622955"/>
            <a:chOff x="0" y="0"/>
            <a:chExt cx="1449490" cy="6315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9490" cy="6315670"/>
            </a:xfrm>
            <a:custGeom>
              <a:avLst/>
              <a:gdLst/>
              <a:ahLst/>
              <a:cxnLst/>
              <a:rect r="r" b="b" t="t" l="l"/>
              <a:pathLst>
                <a:path h="6315670" w="1449490">
                  <a:moveTo>
                    <a:pt x="0" y="0"/>
                  </a:moveTo>
                  <a:lnTo>
                    <a:pt x="1449490" y="0"/>
                  </a:lnTo>
                  <a:lnTo>
                    <a:pt x="1449490" y="6315670"/>
                  </a:lnTo>
                  <a:lnTo>
                    <a:pt x="0" y="6315670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49490" cy="6363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8688">
            <a:off x="12991315" y="6078159"/>
            <a:ext cx="4772771" cy="4645942"/>
            <a:chOff x="0" y="0"/>
            <a:chExt cx="574055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4055" cy="558800"/>
            </a:xfrm>
            <a:custGeom>
              <a:avLst/>
              <a:gdLst/>
              <a:ahLst/>
              <a:cxnLst/>
              <a:rect r="r" b="b" t="t" l="l"/>
              <a:pathLst>
                <a:path h="558800" w="574055">
                  <a:moveTo>
                    <a:pt x="0" y="558800"/>
                  </a:moveTo>
                  <a:cubicBezTo>
                    <a:pt x="0" y="411634"/>
                    <a:pt x="61233" y="267731"/>
                    <a:pt x="168137" y="163669"/>
                  </a:cubicBezTo>
                  <a:cubicBezTo>
                    <a:pt x="275040" y="59606"/>
                    <a:pt x="422871" y="0"/>
                    <a:pt x="574055" y="0"/>
                  </a:cubicBezTo>
                  <a:lnTo>
                    <a:pt x="574055" y="285081"/>
                  </a:lnTo>
                  <a:cubicBezTo>
                    <a:pt x="499999" y="285081"/>
                    <a:pt x="427587" y="314278"/>
                    <a:pt x="375222" y="365251"/>
                  </a:cubicBezTo>
                  <a:cubicBezTo>
                    <a:pt x="322857" y="416225"/>
                    <a:pt x="292863" y="486712"/>
                    <a:pt x="292863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98C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0467" y="88900"/>
              <a:ext cx="313121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5018000" y="3173461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8"/>
                </a:lnTo>
                <a:lnTo>
                  <a:pt x="0" y="1520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685415"/>
            <a:ext cx="959405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Članovi</a:t>
            </a: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 tima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3859" y="4456050"/>
            <a:ext cx="10066290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-65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LUKA RAŽEM 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(voditelj) -  full stack, baza podataka, dokumentacija</a:t>
            </a:r>
          </a:p>
          <a:p>
            <a:pPr algn="l">
              <a:lnSpc>
                <a:spcPts val="4199"/>
              </a:lnSpc>
            </a:pPr>
            <a:r>
              <a:rPr lang="en-US" sz="2999" spc="-65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ANDREA MARIĆ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- backend, baza podataka, ispitivanje, dokumentacija</a:t>
            </a:r>
          </a:p>
          <a:p>
            <a:pPr algn="l">
              <a:lnSpc>
                <a:spcPts val="4199"/>
              </a:lnSpc>
            </a:pPr>
            <a:r>
              <a:rPr lang="en-US" sz="2999" spc="-65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IVAN MARFAT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- frontend, dokumentacija</a:t>
            </a:r>
          </a:p>
          <a:p>
            <a:pPr algn="l">
              <a:lnSpc>
                <a:spcPts val="4199"/>
              </a:lnSpc>
            </a:pPr>
            <a:r>
              <a:rPr lang="en-US" sz="2999" spc="-65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MATEA MARAČIĆ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- dizajn, dokumentacija</a:t>
            </a:r>
          </a:p>
          <a:p>
            <a:pPr algn="l">
              <a:lnSpc>
                <a:spcPts val="4199"/>
              </a:lnSpc>
            </a:pPr>
            <a:r>
              <a:rPr lang="en-US" sz="2999" spc="-65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MATEJ BOŽAC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- frontend, dokumentacija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LOREN ČEKADA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- frontend, dokumentacija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02966">
            <a:off x="10211959" y="3427428"/>
            <a:ext cx="8729958" cy="10108373"/>
          </a:xfrm>
          <a:custGeom>
            <a:avLst/>
            <a:gdLst/>
            <a:ahLst/>
            <a:cxnLst/>
            <a:rect r="r" b="b" t="t" l="l"/>
            <a:pathLst>
              <a:path h="10108373" w="8729958">
                <a:moveTo>
                  <a:pt x="0" y="0"/>
                </a:moveTo>
                <a:lnTo>
                  <a:pt x="8729959" y="0"/>
                </a:lnTo>
                <a:lnTo>
                  <a:pt x="8729959" y="10108373"/>
                </a:lnTo>
                <a:lnTo>
                  <a:pt x="0" y="1010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1399" y="3675380"/>
            <a:ext cx="10066290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-65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Dish Detective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aplikacija koja u menze uvodi jelovnik koji se ažurira u stvarnom vremenu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cilj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omogućiti pregled trenutačnog stanja hrane u menzi, poboljšati iskustvo studenata i smanjiti nepotrebne gužve u menzama 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pretplata i notifikacije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65680"/>
            <a:ext cx="7959169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 projektu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85898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SIJEČANJ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 DETECTIVE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830683" y="2363124"/>
            <a:ext cx="10730064" cy="5560752"/>
            <a:chOff x="0" y="0"/>
            <a:chExt cx="3845413" cy="1992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1992848"/>
            </a:xfrm>
            <a:custGeom>
              <a:avLst/>
              <a:gdLst/>
              <a:ahLst/>
              <a:cxnLst/>
              <a:rect r="r" b="b" t="t" l="l"/>
              <a:pathLst>
                <a:path h="199284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1992848"/>
                  </a:lnTo>
                  <a:lnTo>
                    <a:pt x="0" y="199284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04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840534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620463">
            <a:off x="-1520696" y="4143976"/>
            <a:ext cx="7481771" cy="5699632"/>
          </a:xfrm>
          <a:custGeom>
            <a:avLst/>
            <a:gdLst/>
            <a:ahLst/>
            <a:cxnLst/>
            <a:rect r="r" b="b" t="t" l="l"/>
            <a:pathLst>
              <a:path h="5699632" w="7481771">
                <a:moveTo>
                  <a:pt x="0" y="0"/>
                </a:moveTo>
                <a:lnTo>
                  <a:pt x="7481770" y="0"/>
                </a:lnTo>
                <a:lnTo>
                  <a:pt x="7481770" y="5699632"/>
                </a:lnTo>
                <a:lnTo>
                  <a:pt x="0" y="5699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747646" y="3958736"/>
            <a:ext cx="9042241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prijava 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 sustav 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dodavanje i brisanje jela, restorana, korisničkih računa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Google Maps karta restorana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ažuriranje i pregled dostupnosti jela 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pretplata, recenzije, statistika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sustav obavještavanja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anketa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7646" y="1991840"/>
            <a:ext cx="6654736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Glavni funkcionalni zahtjevi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 DETECTIVE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830683" y="2363124"/>
            <a:ext cx="10730064" cy="5560752"/>
            <a:chOff x="0" y="0"/>
            <a:chExt cx="3845413" cy="1992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1992848"/>
            </a:xfrm>
            <a:custGeom>
              <a:avLst/>
              <a:gdLst/>
              <a:ahLst/>
              <a:cxnLst/>
              <a:rect r="r" b="b" t="t" l="l"/>
              <a:pathLst>
                <a:path h="199284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1992848"/>
                  </a:lnTo>
                  <a:lnTo>
                    <a:pt x="0" y="199284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04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840534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25137" y="3749463"/>
            <a:ext cx="9042241" cy="469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korištenje Oauth2.0 sustava za autentifikaciju​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vrijeme odziva sustava &lt;3s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velik broj istovremenih korisnika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funkcionalno, responzivno i intuitivno korisničko sučelje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striktna prava pristupa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dostupnost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AutoNum type="arabicPeriod" startAt="1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kompatibilnost s Google Chrome, Mozilla Firefox, Apple Safari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3651956"/>
            <a:ext cx="5314724" cy="5353660"/>
          </a:xfrm>
          <a:custGeom>
            <a:avLst/>
            <a:gdLst/>
            <a:ahLst/>
            <a:cxnLst/>
            <a:rect r="r" b="b" t="t" l="l"/>
            <a:pathLst>
              <a:path h="5353660" w="5314724">
                <a:moveTo>
                  <a:pt x="0" y="0"/>
                </a:moveTo>
                <a:lnTo>
                  <a:pt x="5314724" y="0"/>
                </a:lnTo>
                <a:lnTo>
                  <a:pt x="5314724" y="5353660"/>
                </a:lnTo>
                <a:lnTo>
                  <a:pt x="0" y="53536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47646" y="1980679"/>
            <a:ext cx="6040693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Nefunkcionalni zahtjevi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 DETECTIVE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085898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SIJEČANJ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58301" y="1998273"/>
            <a:ext cx="5995366" cy="8033992"/>
          </a:xfrm>
          <a:custGeom>
            <a:avLst/>
            <a:gdLst/>
            <a:ahLst/>
            <a:cxnLst/>
            <a:rect r="r" b="b" t="t" l="l"/>
            <a:pathLst>
              <a:path h="8033992" w="5995366">
                <a:moveTo>
                  <a:pt x="0" y="0"/>
                </a:moveTo>
                <a:lnTo>
                  <a:pt x="5995366" y="0"/>
                </a:lnTo>
                <a:lnTo>
                  <a:pt x="5995366" y="8033992"/>
                </a:lnTo>
                <a:lnTo>
                  <a:pt x="0" y="8033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52193" y="313089"/>
            <a:ext cx="6900916" cy="9858451"/>
          </a:xfrm>
          <a:custGeom>
            <a:avLst/>
            <a:gdLst/>
            <a:ahLst/>
            <a:cxnLst/>
            <a:rect r="r" b="b" t="t" l="l"/>
            <a:pathLst>
              <a:path h="9858451" w="6900916">
                <a:moveTo>
                  <a:pt x="0" y="0"/>
                </a:moveTo>
                <a:lnTo>
                  <a:pt x="6900916" y="0"/>
                </a:lnTo>
                <a:lnTo>
                  <a:pt x="6900916" y="9858451"/>
                </a:lnTo>
                <a:lnTo>
                  <a:pt x="0" y="9858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9810" y="513114"/>
            <a:ext cx="795916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UML dijagram </a:t>
            </a:r>
            <a:r>
              <a:rPr lang="en-US" b="true" sz="5999" spc="-449" strike="noStrike" u="none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obrazaca uporabe​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3809" y="8856980"/>
            <a:ext cx="1454492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UML dijagram funkcionalnosti radnika menze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78959" y="7177421"/>
            <a:ext cx="1454492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UML dijagram funkcionalnosti studente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02966">
            <a:off x="10211959" y="3427428"/>
            <a:ext cx="8729958" cy="10108373"/>
          </a:xfrm>
          <a:custGeom>
            <a:avLst/>
            <a:gdLst/>
            <a:ahLst/>
            <a:cxnLst/>
            <a:rect r="r" b="b" t="t" l="l"/>
            <a:pathLst>
              <a:path h="10108373" w="8729958">
                <a:moveTo>
                  <a:pt x="0" y="0"/>
                </a:moveTo>
                <a:lnTo>
                  <a:pt x="8729959" y="0"/>
                </a:lnTo>
                <a:lnTo>
                  <a:pt x="8729959" y="10108373"/>
                </a:lnTo>
                <a:lnTo>
                  <a:pt x="0" y="1010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462846" y="1707788"/>
            <a:ext cx="9053648" cy="9070139"/>
          </a:xfrm>
          <a:custGeom>
            <a:avLst/>
            <a:gdLst/>
            <a:ahLst/>
            <a:cxnLst/>
            <a:rect r="r" b="b" t="t" l="l"/>
            <a:pathLst>
              <a:path h="9070139" w="9053648">
                <a:moveTo>
                  <a:pt x="0" y="0"/>
                </a:moveTo>
                <a:lnTo>
                  <a:pt x="9053647" y="0"/>
                </a:lnTo>
                <a:lnTo>
                  <a:pt x="9053647" y="9070139"/>
                </a:lnTo>
                <a:lnTo>
                  <a:pt x="0" y="9070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58982" y="551180"/>
            <a:ext cx="7492071" cy="8699066"/>
          </a:xfrm>
          <a:custGeom>
            <a:avLst/>
            <a:gdLst/>
            <a:ahLst/>
            <a:cxnLst/>
            <a:rect r="r" b="b" t="t" l="l"/>
            <a:pathLst>
              <a:path h="8699066" w="7492071">
                <a:moveTo>
                  <a:pt x="0" y="0"/>
                </a:moveTo>
                <a:lnTo>
                  <a:pt x="7492071" y="0"/>
                </a:lnTo>
                <a:lnTo>
                  <a:pt x="7492071" y="8699066"/>
                </a:lnTo>
                <a:lnTo>
                  <a:pt x="0" y="8699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08232" y="1960049"/>
            <a:ext cx="6294435" cy="7782918"/>
          </a:xfrm>
          <a:custGeom>
            <a:avLst/>
            <a:gdLst/>
            <a:ahLst/>
            <a:cxnLst/>
            <a:rect r="r" b="b" t="t" l="l"/>
            <a:pathLst>
              <a:path h="7782918" w="6294435">
                <a:moveTo>
                  <a:pt x="0" y="0"/>
                </a:moveTo>
                <a:lnTo>
                  <a:pt x="6294435" y="0"/>
                </a:lnTo>
                <a:lnTo>
                  <a:pt x="6294435" y="7782918"/>
                </a:lnTo>
                <a:lnTo>
                  <a:pt x="0" y="77829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7311" y="8705022"/>
            <a:ext cx="1454492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UML dijagram funkcionalnosti administratora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19885" y="503555"/>
            <a:ext cx="1454492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Sekvencijski dijagram dodavanja i brisanja hrane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73964" y="1546490"/>
            <a:ext cx="10423720" cy="8208680"/>
          </a:xfrm>
          <a:custGeom>
            <a:avLst/>
            <a:gdLst/>
            <a:ahLst/>
            <a:cxnLst/>
            <a:rect r="r" b="b" t="t" l="l"/>
            <a:pathLst>
              <a:path h="8208680" w="10423720">
                <a:moveTo>
                  <a:pt x="0" y="0"/>
                </a:moveTo>
                <a:lnTo>
                  <a:pt x="10423720" y="0"/>
                </a:lnTo>
                <a:lnTo>
                  <a:pt x="10423720" y="8208680"/>
                </a:lnTo>
                <a:lnTo>
                  <a:pt x="0" y="8208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9907" y="585043"/>
            <a:ext cx="904528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UML sekvencijski dijagram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02382" y="8335670"/>
            <a:ext cx="1865997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Sekvencijski dijagram prijave i reigistracije studenata u sustav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4360" y="2002879"/>
            <a:ext cx="13758589" cy="7574066"/>
          </a:xfrm>
          <a:custGeom>
            <a:avLst/>
            <a:gdLst/>
            <a:ahLst/>
            <a:cxnLst/>
            <a:rect r="r" b="b" t="t" l="l"/>
            <a:pathLst>
              <a:path h="7574066" w="13758589">
                <a:moveTo>
                  <a:pt x="0" y="0"/>
                </a:moveTo>
                <a:lnTo>
                  <a:pt x="13758589" y="0"/>
                </a:lnTo>
                <a:lnTo>
                  <a:pt x="13758589" y="7574065"/>
                </a:lnTo>
                <a:lnTo>
                  <a:pt x="0" y="7574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4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0581" y="841640"/>
            <a:ext cx="946421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UML sekvencijski dijagram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88126" y="7879715"/>
            <a:ext cx="1865997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Sekvencijski dijagram slanja obavijesti o promjeni dostupnosti hrane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30649" y="2914650"/>
            <a:ext cx="10421682" cy="6461443"/>
          </a:xfrm>
          <a:custGeom>
            <a:avLst/>
            <a:gdLst/>
            <a:ahLst/>
            <a:cxnLst/>
            <a:rect r="r" b="b" t="t" l="l"/>
            <a:pathLst>
              <a:path h="6461443" w="10421682">
                <a:moveTo>
                  <a:pt x="0" y="0"/>
                </a:moveTo>
                <a:lnTo>
                  <a:pt x="10421682" y="0"/>
                </a:lnTo>
                <a:lnTo>
                  <a:pt x="10421682" y="6461443"/>
                </a:lnTo>
                <a:lnTo>
                  <a:pt x="0" y="6461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32784"/>
            <a:ext cx="7959169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Arhitektura sustava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225963"/>
            <a:ext cx="4988272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klijent-poslužitelj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model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komunikacija putem RESTful API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spajanje na bazu podataka MongoDB koristeći Mongoose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serverless arhitektura na platformi Vercel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05371" y="8714832"/>
            <a:ext cx="1920478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Dijagram razmještaja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162198" y="-7162198"/>
            <a:ext cx="2934904" cy="17259300"/>
            <a:chOff x="0" y="0"/>
            <a:chExt cx="1051803" cy="6185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803" cy="6185343"/>
            </a:xfrm>
            <a:custGeom>
              <a:avLst/>
              <a:gdLst/>
              <a:ahLst/>
              <a:cxnLst/>
              <a:rect r="r" b="b" t="t" l="l"/>
              <a:pathLst>
                <a:path h="6185343" w="1051803">
                  <a:moveTo>
                    <a:pt x="0" y="0"/>
                  </a:moveTo>
                  <a:lnTo>
                    <a:pt x="1051803" y="0"/>
                  </a:lnTo>
                  <a:lnTo>
                    <a:pt x="1051803" y="6185343"/>
                  </a:lnTo>
                  <a:lnTo>
                    <a:pt x="0" y="6185343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051803" cy="6232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5413356" y="217454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8"/>
                </a:lnTo>
                <a:lnTo>
                  <a:pt x="0" y="1520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33872" y="5028608"/>
            <a:ext cx="4757323" cy="4229692"/>
          </a:xfrm>
          <a:custGeom>
            <a:avLst/>
            <a:gdLst/>
            <a:ahLst/>
            <a:cxnLst/>
            <a:rect r="r" b="b" t="t" l="l"/>
            <a:pathLst>
              <a:path h="4229692" w="4757323">
                <a:moveTo>
                  <a:pt x="0" y="0"/>
                </a:moveTo>
                <a:lnTo>
                  <a:pt x="4757322" y="0"/>
                </a:lnTo>
                <a:lnTo>
                  <a:pt x="4757322" y="4229692"/>
                </a:lnTo>
                <a:lnTo>
                  <a:pt x="0" y="4229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13032" y="1294078"/>
            <a:ext cx="959405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Ispitivanje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852887"/>
            <a:ext cx="10066290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Playwright 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→ automatizirano end-to-end testiranje 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Jest 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→ ispitivanje individualnih komponenti i automatskog testiranja pri svakom pull requestu na Githubu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cilj testiranja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ispitati komponente, njihove funkcionalnosti i međusobnu komunikaciju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12694">
            <a:off x="11971524" y="3249843"/>
            <a:ext cx="7339730" cy="8498634"/>
          </a:xfrm>
          <a:custGeom>
            <a:avLst/>
            <a:gdLst/>
            <a:ahLst/>
            <a:cxnLst/>
            <a:rect r="r" b="b" t="t" l="l"/>
            <a:pathLst>
              <a:path h="8498634" w="7339730">
                <a:moveTo>
                  <a:pt x="0" y="0"/>
                </a:moveTo>
                <a:lnTo>
                  <a:pt x="7339730" y="0"/>
                </a:lnTo>
                <a:lnTo>
                  <a:pt x="7339730" y="8498634"/>
                </a:lnTo>
                <a:lnTo>
                  <a:pt x="0" y="8498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61105" y="6848609"/>
            <a:ext cx="5701499" cy="2834941"/>
          </a:xfrm>
          <a:custGeom>
            <a:avLst/>
            <a:gdLst/>
            <a:ahLst/>
            <a:cxnLst/>
            <a:rect r="r" b="b" t="t" l="l"/>
            <a:pathLst>
              <a:path h="2834941" w="5701499">
                <a:moveTo>
                  <a:pt x="0" y="0"/>
                </a:moveTo>
                <a:lnTo>
                  <a:pt x="5701499" y="0"/>
                </a:lnTo>
                <a:lnTo>
                  <a:pt x="5701499" y="2834941"/>
                </a:lnTo>
                <a:lnTo>
                  <a:pt x="0" y="2834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72229" y="3154010"/>
            <a:ext cx="6779434" cy="5642388"/>
          </a:xfrm>
          <a:custGeom>
            <a:avLst/>
            <a:gdLst/>
            <a:ahLst/>
            <a:cxnLst/>
            <a:rect r="r" b="b" t="t" l="l"/>
            <a:pathLst>
              <a:path h="5642388" w="6779434">
                <a:moveTo>
                  <a:pt x="0" y="0"/>
                </a:moveTo>
                <a:lnTo>
                  <a:pt x="6779434" y="0"/>
                </a:lnTo>
                <a:lnTo>
                  <a:pt x="6779434" y="5642388"/>
                </a:lnTo>
                <a:lnTo>
                  <a:pt x="0" y="5642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967" t="-24898" r="-4508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065431"/>
            <a:ext cx="1051759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Ispitivanje komponenti i sustava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5629" y="2194895"/>
            <a:ext cx="8526600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za pojedine komponente ispituju se end pointovi 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testovi za ispitivanje sustava → Playwright codegen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sustav → Google, Firefox, Safari i mobilni uređaji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rano otkrivanje grešaka uzrokovanih promjenama postojećih funkcionalnosti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830683" y="2363124"/>
            <a:ext cx="10730064" cy="5560752"/>
            <a:chOff x="0" y="0"/>
            <a:chExt cx="3845413" cy="1992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1992848"/>
            </a:xfrm>
            <a:custGeom>
              <a:avLst/>
              <a:gdLst/>
              <a:ahLst/>
              <a:cxnLst/>
              <a:rect r="r" b="b" t="t" l="l"/>
              <a:pathLst>
                <a:path h="199284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1992848"/>
                  </a:lnTo>
                  <a:lnTo>
                    <a:pt x="0" y="199284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04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840534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4018" y="3764884"/>
            <a:ext cx="9042241" cy="469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Programski jezici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TypeScript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Radni okviri i biblioteke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React, Node.js, OAuth2.0, Clerk, Mongoose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Baza podataka: 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MongoDB, Vercel Blob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​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Razvojni alati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Github,VS Code, Figma 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Alati za ispitivanje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Playwright, Jest​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Cloud platforma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Vercel​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Dokumentacija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Wiki (na Githubu)​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-6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Komunikacija</a:t>
            </a: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Discord, Microsoft Teams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77159" y="3231794"/>
            <a:ext cx="8112062" cy="8126838"/>
          </a:xfrm>
          <a:custGeom>
            <a:avLst/>
            <a:gdLst/>
            <a:ahLst/>
            <a:cxnLst/>
            <a:rect r="r" b="b" t="t" l="l"/>
            <a:pathLst>
              <a:path h="8126838" w="8112062">
                <a:moveTo>
                  <a:pt x="0" y="0"/>
                </a:moveTo>
                <a:lnTo>
                  <a:pt x="8112062" y="0"/>
                </a:lnTo>
                <a:lnTo>
                  <a:pt x="8112062" y="8126838"/>
                </a:lnTo>
                <a:lnTo>
                  <a:pt x="0" y="81268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lgDash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1359698">
            <a:off x="-1557165" y="8267685"/>
            <a:ext cx="7315200" cy="3431494"/>
          </a:xfrm>
          <a:custGeom>
            <a:avLst/>
            <a:gdLst/>
            <a:ahLst/>
            <a:cxnLst/>
            <a:rect r="r" b="b" t="t" l="l"/>
            <a:pathLst>
              <a:path h="3431494" w="7315200">
                <a:moveTo>
                  <a:pt x="0" y="0"/>
                </a:moveTo>
                <a:lnTo>
                  <a:pt x="7315200" y="0"/>
                </a:lnTo>
                <a:lnTo>
                  <a:pt x="7315200" y="3431494"/>
                </a:lnTo>
                <a:lnTo>
                  <a:pt x="0" y="3431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08003" y="2299767"/>
            <a:ext cx="7197792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Korištene tehnologije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5" id="1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 DETECTIVE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12694">
            <a:off x="11971524" y="3249843"/>
            <a:ext cx="7339730" cy="8498634"/>
          </a:xfrm>
          <a:custGeom>
            <a:avLst/>
            <a:gdLst/>
            <a:ahLst/>
            <a:cxnLst/>
            <a:rect r="r" b="b" t="t" l="l"/>
            <a:pathLst>
              <a:path h="8498634" w="7339730">
                <a:moveTo>
                  <a:pt x="0" y="0"/>
                </a:moveTo>
                <a:lnTo>
                  <a:pt x="7339730" y="0"/>
                </a:lnTo>
                <a:lnTo>
                  <a:pt x="7339730" y="8498634"/>
                </a:lnTo>
                <a:lnTo>
                  <a:pt x="0" y="8498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6667400" y="-6899948"/>
            <a:ext cx="4044591" cy="17622955"/>
            <a:chOff x="0" y="0"/>
            <a:chExt cx="1449490" cy="6315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9490" cy="6315670"/>
            </a:xfrm>
            <a:custGeom>
              <a:avLst/>
              <a:gdLst/>
              <a:ahLst/>
              <a:cxnLst/>
              <a:rect r="r" b="b" t="t" l="l"/>
              <a:pathLst>
                <a:path h="6315670" w="1449490">
                  <a:moveTo>
                    <a:pt x="0" y="0"/>
                  </a:moveTo>
                  <a:lnTo>
                    <a:pt x="1449490" y="0"/>
                  </a:lnTo>
                  <a:lnTo>
                    <a:pt x="1449490" y="6315670"/>
                  </a:lnTo>
                  <a:lnTo>
                    <a:pt x="0" y="6315670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49490" cy="6363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15018000" y="3173461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8"/>
                </a:lnTo>
                <a:lnTo>
                  <a:pt x="0" y="1520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685415"/>
            <a:ext cx="959405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Organizacija rada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3859" y="4456050"/>
            <a:ext cx="10066290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rad podijeljen na logičke cjeline 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komunikacija i podjela poslova → Github issues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dokumentacija → tijekom cijelog projekta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testiranje → od početka razvoja na dalje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deployment → od formulacije MVP-a </a:t>
            </a:r>
          </a:p>
          <a:p>
            <a:pPr algn="just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6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sastanci → uz konstantnu komunikaciju, po potrebi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02382" y="510910"/>
            <a:ext cx="3245528" cy="1035580"/>
          </a:xfrm>
          <a:custGeom>
            <a:avLst/>
            <a:gdLst/>
            <a:ahLst/>
            <a:cxnLst/>
            <a:rect r="r" b="b" t="t" l="l"/>
            <a:pathLst>
              <a:path h="1035580" w="3245528">
                <a:moveTo>
                  <a:pt x="0" y="0"/>
                </a:moveTo>
                <a:lnTo>
                  <a:pt x="3245528" y="0"/>
                </a:lnTo>
                <a:lnTo>
                  <a:pt x="3245528" y="1035580"/>
                </a:lnTo>
                <a:lnTo>
                  <a:pt x="0" y="103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63278" y="1697243"/>
          <a:ext cx="15651259" cy="7980266"/>
        </p:xfrm>
        <a:graphic>
          <a:graphicData uri="http://schemas.openxmlformats.org/drawingml/2006/table">
            <a:tbl>
              <a:tblPr/>
              <a:tblGrid>
                <a:gridCol w="5217086"/>
                <a:gridCol w="5217086"/>
                <a:gridCol w="5217086"/>
              </a:tblGrid>
              <a:tr h="1140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Član tima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Zadaci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Sati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1140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Luka Ražem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Upravljanje projektom (voditelj), full stack, dokumentacija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Andrea Marić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Backend, testiranje komponenti i sustava, dokumentacija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Matea Maračić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Dokumentacija, UML dijagrami, dizajn korisničkog sučelja, figma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Ivan Marfat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Frontend, dokumentacija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Matej Božac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Frontend, testiranje, dokumentacija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Loren Čekada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Frontend, dokumentacija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-2991881" y="-1576047"/>
            <a:ext cx="7315200" cy="3431494"/>
          </a:xfrm>
          <a:custGeom>
            <a:avLst/>
            <a:gdLst/>
            <a:ahLst/>
            <a:cxnLst/>
            <a:rect r="r" b="b" t="t" l="l"/>
            <a:pathLst>
              <a:path h="3431494" w="7315200">
                <a:moveTo>
                  <a:pt x="0" y="0"/>
                </a:moveTo>
                <a:lnTo>
                  <a:pt x="7315200" y="0"/>
                </a:lnTo>
                <a:lnTo>
                  <a:pt x="7315200" y="3431494"/>
                </a:lnTo>
                <a:lnTo>
                  <a:pt x="0" y="3431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653131" y="2318731"/>
            <a:ext cx="10730064" cy="5649539"/>
            <a:chOff x="0" y="0"/>
            <a:chExt cx="3845413" cy="202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2024667"/>
            </a:xfrm>
            <a:custGeom>
              <a:avLst/>
              <a:gdLst/>
              <a:ahLst/>
              <a:cxnLst/>
              <a:rect r="r" b="b" t="t" l="l"/>
              <a:pathLst>
                <a:path h="2024667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024667"/>
                  </a:lnTo>
                  <a:lnTo>
                    <a:pt x="0" y="2024667"/>
                  </a:lnTo>
                  <a:close/>
                </a:path>
              </a:pathLst>
            </a:custGeom>
            <a:solidFill>
              <a:srgbClr val="98CEFF">
                <a:alpha val="84706"/>
              </a:srgbClr>
            </a:solidFill>
            <a:ln w="9525" cap="sq">
              <a:solidFill>
                <a:srgbClr val="403E3E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207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773148"/>
            <a:ext cx="959405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Zaključak</a:t>
            </a:r>
            <a:r>
              <a:rPr lang="en-US" b="true" sz="5999" spc="-449">
                <a:solidFill>
                  <a:srgbClr val="78B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5042" y="3100882"/>
            <a:ext cx="316166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225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NAUČENO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6489" y="4098113"/>
            <a:ext cx="3381103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dokumentacija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planiranje, timski rad i suradnja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Github, React, baze podataka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izrada aplikacije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63180" y="3100882"/>
            <a:ext cx="33013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225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DOBRO ODRAĐENO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66056" y="4098113"/>
            <a:ext cx="3161665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komunikacija i suradnja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frontend i backend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50338" y="3100882"/>
            <a:ext cx="316166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225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NEDOSTACI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23047" y="4098113"/>
            <a:ext cx="316166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upravljanje vremenom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realistični vremenski rokovi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nedovoljno sastanaka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155042" y="3893326"/>
            <a:ext cx="10927493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719203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5400000">
            <a:off x="15899299" y="2777807"/>
            <a:ext cx="37719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DISHDETECTIVE.ME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838282"/>
                </a:solidFill>
                <a:latin typeface="Inter"/>
                <a:ea typeface="Inter"/>
                <a:cs typeface="Inter"/>
                <a:sym typeface="Inter"/>
              </a:rPr>
              <a:t>GRUPA TG10.4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621133" y="2153574"/>
            <a:ext cx="10730064" cy="5979852"/>
            <a:chOff x="0" y="0"/>
            <a:chExt cx="3845413" cy="2143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15753" y="4372201"/>
            <a:ext cx="6125174" cy="6136331"/>
          </a:xfrm>
          <a:custGeom>
            <a:avLst/>
            <a:gdLst/>
            <a:ahLst/>
            <a:cxnLst/>
            <a:rect r="r" b="b" t="t" l="l"/>
            <a:pathLst>
              <a:path h="6136331" w="6125174">
                <a:moveTo>
                  <a:pt x="0" y="0"/>
                </a:moveTo>
                <a:lnTo>
                  <a:pt x="6125174" y="0"/>
                </a:lnTo>
                <a:lnTo>
                  <a:pt x="6125174" y="6136331"/>
                </a:lnTo>
                <a:lnTo>
                  <a:pt x="0" y="6136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75502" y="4519507"/>
            <a:ext cx="9140825" cy="1025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24"/>
              </a:lnSpc>
            </a:pPr>
            <a:r>
              <a:rPr lang="en-US" b="true" sz="8499" spc="-637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HVALA NA PAŽNJI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21975" y="5411258"/>
            <a:ext cx="7846727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DISHDETECTIVE.ME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9153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SIJEČAN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DAG_K6uEMJw</dc:identifier>
  <dcterms:modified xsi:type="dcterms:W3CDTF">2011-08-01T06:04:30Z</dcterms:modified>
  <cp:revision>1</cp:revision>
  <dc:title>Your paragraph text</dc:title>
</cp:coreProperties>
</file>